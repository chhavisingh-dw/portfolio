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ROOFTOP SOLAR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49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STUDY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CC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Municipal Utilities — Uttar Pradesh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9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Surya Ghar Yojana Scheme  |  2025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Chhavi Singh  |  Data &amp; Research Analyst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5943600"/>
            <a:ext cx="2377440" cy="1005840"/>
          </a:xfrm>
          <a:prstGeom prst="rect">
            <a:avLst/>
          </a:prstGeom>
          <a:solidFill>
            <a:srgbClr val="2D7A4F"/>
          </a:solidFill>
          <a:ln w="12700">
            <a:solidFill>
              <a:srgbClr val="C497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989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1,550 kW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6492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Capacity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5943600"/>
            <a:ext cx="2377440" cy="1005840"/>
          </a:xfrm>
          <a:prstGeom prst="rect">
            <a:avLst/>
          </a:prstGeom>
          <a:solidFill>
            <a:srgbClr val="2D7A4F"/>
          </a:solidFill>
          <a:ln w="12700">
            <a:solidFill>
              <a:srgbClr val="C497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5989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₹88L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6492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5943600"/>
            <a:ext cx="2377440" cy="1005840"/>
          </a:xfrm>
          <a:prstGeom prst="rect">
            <a:avLst/>
          </a:prstGeom>
          <a:solidFill>
            <a:srgbClr val="2D7A4F"/>
          </a:solidFill>
          <a:ln w="12700">
            <a:solidFill>
              <a:srgbClr val="C497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5989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18.4%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6492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IRR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0" y="5943600"/>
            <a:ext cx="2377440" cy="1005840"/>
          </a:xfrm>
          <a:prstGeom prst="rect">
            <a:avLst/>
          </a:prstGeom>
          <a:solidFill>
            <a:srgbClr val="2D7A4F"/>
          </a:solidFill>
          <a:ln w="12700">
            <a:solidFill>
              <a:srgbClr val="C497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5989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Yrs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961120" y="6492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Period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study evaluates rooftop solar feasibility for 3 UP municipal utilities under PM Surya Ghar Yojana. All three utilities demonstrate strong financial viability with IRR values well above the 10% benchmark threshold.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2377440"/>
            <a:ext cx="2560320" cy="201168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14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Utilities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2377440"/>
            <a:ext cx="2560320" cy="201168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514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1,550 kW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32461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Solar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377440"/>
            <a:ext cx="2560320" cy="201168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514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₹542.5L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35040" y="32461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Investment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(After Subsidy)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69680" y="2377440"/>
            <a:ext cx="2560320" cy="201168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2514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18.4%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69680" y="32461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IRR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(Above 10% Benchmark)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Recommendation: All 3 utilities are VIABLE — recommend immediate implementation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Cost-Benefit Analysis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338560" cy="3200400"/>
        </p:xfrm>
        <a:graphic>
          <a:graphicData uri="http://schemas.openxmlformats.org/drawingml/2006/table">
            <a:tbl>
              <a:tblPr/>
              <a:tblGrid>
                <a:gridCol w="1619794"/>
                <a:gridCol w="1619794"/>
                <a:gridCol w="1619794"/>
                <a:gridCol w="1619794"/>
                <a:gridCol w="1619794"/>
                <a:gridCol w="1619794"/>
                <a:gridCol w="1619794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 (kW)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Cost (₹L)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Subsidy (₹L)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Cost (₹L)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Savings (₹L)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Payback (Yrs)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Agra Municipal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Lucknow Nagar Nigam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78.75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183.75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Meerut Municipal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 &amp; IRR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1338560" cy="118872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Agra Municipal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8912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IRR: 18.2%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NPV: ₹142.3L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IRR &gt; 10% | All utilities exceed benchmark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11338560" cy="118872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Lucknow Nagar Nigam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IRR: 19.1%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NPV: ₹198.6L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IRR &gt; 10% | All utilities exceed benchmark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297680"/>
            <a:ext cx="11338560" cy="118872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Meerut Municipal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0" y="4389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IRR: 17.8%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4389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NPV: ₹89.4L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0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IRR &gt; 10% | All utilities exceed benchmark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Surya Ghar Yojana — Subsidy Mapping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320040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2651760" cy="64008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Subsidy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₹30,000/kW up to 2kW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₹18,000/kW for 2-3kW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2286000" cy="640080"/>
          </a:xfrm>
          <a:prstGeom prst="rect">
            <a:avLst/>
          </a:prstGeom>
          <a:solidFill>
            <a:srgbClr val="C4974A"/>
          </a:solidFill>
          <a:ln w="12700">
            <a:solidFill>
              <a:srgbClr val="C497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93008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₹78,000 max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51760" cy="320040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371600"/>
            <a:ext cx="2651760" cy="64008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Top-up (UP)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2103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30%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central subsidy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29000" y="3474720"/>
            <a:ext cx="2286000" cy="640080"/>
          </a:xfrm>
          <a:prstGeom prst="rect">
            <a:avLst/>
          </a:prstGeom>
          <a:solidFill>
            <a:srgbClr val="C4974A"/>
          </a:solidFill>
          <a:ln w="12700">
            <a:solidFill>
              <a:srgbClr val="C497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3493008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₹23,400 max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320040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371600"/>
            <a:ext cx="2651760" cy="64008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Metering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103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excess power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grid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474720"/>
            <a:ext cx="2286000" cy="640080"/>
          </a:xfrm>
          <a:prstGeom prst="rect">
            <a:avLst/>
          </a:prstGeom>
          <a:solidFill>
            <a:srgbClr val="C4974A"/>
          </a:solidFill>
          <a:ln w="12700">
            <a:solidFill>
              <a:srgbClr val="C497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493008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₹3.5/unit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06840" y="1371600"/>
            <a:ext cx="2651760" cy="320040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06840" y="1371600"/>
            <a:ext cx="2651760" cy="64008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Loan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06840" y="2103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Collateral-free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 interest rate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89720" y="3474720"/>
            <a:ext cx="2286000" cy="640080"/>
          </a:xfrm>
          <a:prstGeom prst="rect">
            <a:avLst/>
          </a:prstGeom>
          <a:solidFill>
            <a:srgbClr val="C4974A"/>
          </a:solidFill>
          <a:ln w="12700">
            <a:solidFill>
              <a:srgbClr val="C497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3493008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₹2L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5760" y="502920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subsidy available: ₹162.75 lakh across all 3 utilities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1338560" cy="868680"/>
          </a:xfrm>
          <a:prstGeom prst="rect">
            <a:avLst/>
          </a:prstGeom>
          <a:solidFill>
            <a:srgbClr val="E8F5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Jan–Mar 2025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371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survey &amp; subsidy application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11338560" cy="86868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Apr–Jun 2025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2377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selection &amp; equipment ordering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926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9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11338560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83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Jul–Dec 2025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240" y="3383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Agra &amp; Lucknow installation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9264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297680"/>
            <a:ext cx="11338560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89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4389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Jan–Mar 2026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4389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Meerut installation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92640" y="4389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5303520"/>
            <a:ext cx="11338560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394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011680" y="5394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2026+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06240" y="53949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monitoring &amp; reporting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92640" y="5394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9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320040" cy="320040"/>
          </a:xfrm>
          <a:prstGeom prst="ellipse">
            <a:avLst/>
          </a:prstGeom>
          <a:solidFill>
            <a:srgbClr val="C4974A"/>
          </a:solidFill>
          <a:ln w="12700">
            <a:solidFill>
              <a:srgbClr val="C497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8346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utilities are financially VIABLE — immediate implementation recommended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320040" cy="320040"/>
          </a:xfrm>
          <a:prstGeom prst="ellipse">
            <a:avLst/>
          </a:prstGeom>
          <a:solidFill>
            <a:srgbClr val="C4974A"/>
          </a:solidFill>
          <a:ln w="12700">
            <a:solidFill>
              <a:srgbClr val="C497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5204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Lucknow Nagar Nigam (750 kW) — highest savings potential of ₹42L/year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251960"/>
            <a:ext cx="320040" cy="320040"/>
          </a:xfrm>
          <a:prstGeom prst="ellipse">
            <a:avLst/>
          </a:prstGeom>
          <a:solidFill>
            <a:srgbClr val="C4974A"/>
          </a:solidFill>
          <a:ln w="12700">
            <a:solidFill>
              <a:srgbClr val="C497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2062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for PM Surya Ghar Yojana subsidies immediately to reduce net cost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937760"/>
            <a:ext cx="320040" cy="320040"/>
          </a:xfrm>
          <a:prstGeom prst="ellipse">
            <a:avLst/>
          </a:prstGeom>
          <a:solidFill>
            <a:srgbClr val="C4974A"/>
          </a:solidFill>
          <a:ln w="12700">
            <a:solidFill>
              <a:srgbClr val="C497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8920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UPNEDA for technical support, grid connectivity and net metering setup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5623560"/>
            <a:ext cx="320040" cy="320040"/>
          </a:xfrm>
          <a:prstGeom prst="ellipse">
            <a:avLst/>
          </a:prstGeom>
          <a:solidFill>
            <a:srgbClr val="C4974A"/>
          </a:solidFill>
          <a:ln w="12700">
            <a:solidFill>
              <a:srgbClr val="C497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55778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full installation completion by March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2026-06-13T09:55:06Z</dcterms:created>
  <dcterms:modified xsi:type="dcterms:W3CDTF">2026-06-13T09:55:06Z</dcterms:modified>
</cp:coreProperties>
</file>